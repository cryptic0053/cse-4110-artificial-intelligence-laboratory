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84" r:id="rId3"/>
    <p:sldId id="285" r:id="rId4"/>
    <p:sldId id="286" r:id="rId5"/>
    <p:sldId id="287" r:id="rId6"/>
    <p:sldId id="279" r:id="rId7"/>
    <p:sldId id="289" r:id="rId8"/>
    <p:sldId id="290" r:id="rId9"/>
    <p:sldId id="288" r:id="rId10"/>
    <p:sldId id="291" r:id="rId11"/>
    <p:sldId id="280" r:id="rId12"/>
    <p:sldId id="281" r:id="rId13"/>
    <p:sldId id="292" r:id="rId14"/>
    <p:sldId id="282" r:id="rId15"/>
    <p:sldId id="294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410ECDD-8D64-4728-8AFF-D44FD3AB49B7}">
          <p14:sldIdLst>
            <p14:sldId id="256"/>
            <p14:sldId id="284"/>
            <p14:sldId id="285"/>
            <p14:sldId id="286"/>
            <p14:sldId id="287"/>
            <p14:sldId id="279"/>
            <p14:sldId id="289"/>
            <p14:sldId id="290"/>
            <p14:sldId id="288"/>
            <p14:sldId id="291"/>
            <p14:sldId id="280"/>
            <p14:sldId id="281"/>
            <p14:sldId id="292"/>
            <p14:sldId id="282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B314B-7EAC-4F02-B2F7-56698ECFD4EE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6CE54-0F6A-46A6-8597-A6CCFBA9F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9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F577-7B9C-892D-9964-9929FF526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EA8C3-2AA8-921F-2DEB-872AE59F0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EC2A-AA40-72AE-0C2A-2D45907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3ECC-5CAF-4F14-A242-B702E2784D37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3F04-680A-E525-59CE-1C918888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63BB-9188-96BC-E6BC-7E236F67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63D-921B-1FE5-D959-28ED8C7F8CE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689356 w 10515600"/>
              <a:gd name="connsiteY1" fmla="*/ 0 h 1325563"/>
              <a:gd name="connsiteX2" fmla="*/ 1168400 w 10515600"/>
              <a:gd name="connsiteY2" fmla="*/ 0 h 1325563"/>
              <a:gd name="connsiteX3" fmla="*/ 1647444 w 10515600"/>
              <a:gd name="connsiteY3" fmla="*/ 0 h 1325563"/>
              <a:gd name="connsiteX4" fmla="*/ 2126488 w 10515600"/>
              <a:gd name="connsiteY4" fmla="*/ 0 h 1325563"/>
              <a:gd name="connsiteX5" fmla="*/ 2710688 w 10515600"/>
              <a:gd name="connsiteY5" fmla="*/ 0 h 1325563"/>
              <a:gd name="connsiteX6" fmla="*/ 3084576 w 10515600"/>
              <a:gd name="connsiteY6" fmla="*/ 0 h 1325563"/>
              <a:gd name="connsiteX7" fmla="*/ 3668776 w 10515600"/>
              <a:gd name="connsiteY7" fmla="*/ 0 h 1325563"/>
              <a:gd name="connsiteX8" fmla="*/ 4042664 w 10515600"/>
              <a:gd name="connsiteY8" fmla="*/ 0 h 1325563"/>
              <a:gd name="connsiteX9" fmla="*/ 4626864 w 10515600"/>
              <a:gd name="connsiteY9" fmla="*/ 0 h 1325563"/>
              <a:gd name="connsiteX10" fmla="*/ 5000752 w 10515600"/>
              <a:gd name="connsiteY10" fmla="*/ 0 h 1325563"/>
              <a:gd name="connsiteX11" fmla="*/ 5479796 w 10515600"/>
              <a:gd name="connsiteY11" fmla="*/ 0 h 1325563"/>
              <a:gd name="connsiteX12" fmla="*/ 6274308 w 10515600"/>
              <a:gd name="connsiteY12" fmla="*/ 0 h 1325563"/>
              <a:gd name="connsiteX13" fmla="*/ 6543040 w 10515600"/>
              <a:gd name="connsiteY13" fmla="*/ 0 h 1325563"/>
              <a:gd name="connsiteX14" fmla="*/ 7127240 w 10515600"/>
              <a:gd name="connsiteY14" fmla="*/ 0 h 1325563"/>
              <a:gd name="connsiteX15" fmla="*/ 7921752 w 10515600"/>
              <a:gd name="connsiteY15" fmla="*/ 0 h 1325563"/>
              <a:gd name="connsiteX16" fmla="*/ 8611108 w 10515600"/>
              <a:gd name="connsiteY16" fmla="*/ 0 h 1325563"/>
              <a:gd name="connsiteX17" fmla="*/ 9300464 w 10515600"/>
              <a:gd name="connsiteY17" fmla="*/ 0 h 1325563"/>
              <a:gd name="connsiteX18" fmla="*/ 9779508 w 10515600"/>
              <a:gd name="connsiteY18" fmla="*/ 0 h 1325563"/>
              <a:gd name="connsiteX19" fmla="*/ 10515600 w 10515600"/>
              <a:gd name="connsiteY19" fmla="*/ 0 h 1325563"/>
              <a:gd name="connsiteX20" fmla="*/ 10515600 w 10515600"/>
              <a:gd name="connsiteY20" fmla="*/ 455110 h 1325563"/>
              <a:gd name="connsiteX21" fmla="*/ 10515600 w 10515600"/>
              <a:gd name="connsiteY21" fmla="*/ 870453 h 1325563"/>
              <a:gd name="connsiteX22" fmla="*/ 10515600 w 10515600"/>
              <a:gd name="connsiteY22" fmla="*/ 1325563 h 1325563"/>
              <a:gd name="connsiteX23" fmla="*/ 10036556 w 10515600"/>
              <a:gd name="connsiteY23" fmla="*/ 1325563 h 1325563"/>
              <a:gd name="connsiteX24" fmla="*/ 9452356 w 10515600"/>
              <a:gd name="connsiteY24" fmla="*/ 1325563 h 1325563"/>
              <a:gd name="connsiteX25" fmla="*/ 8657844 w 10515600"/>
              <a:gd name="connsiteY25" fmla="*/ 1325563 h 1325563"/>
              <a:gd name="connsiteX26" fmla="*/ 8389112 w 10515600"/>
              <a:gd name="connsiteY26" fmla="*/ 1325563 h 1325563"/>
              <a:gd name="connsiteX27" fmla="*/ 8015224 w 10515600"/>
              <a:gd name="connsiteY27" fmla="*/ 1325563 h 1325563"/>
              <a:gd name="connsiteX28" fmla="*/ 7746492 w 10515600"/>
              <a:gd name="connsiteY28" fmla="*/ 1325563 h 1325563"/>
              <a:gd name="connsiteX29" fmla="*/ 7057136 w 10515600"/>
              <a:gd name="connsiteY29" fmla="*/ 1325563 h 1325563"/>
              <a:gd name="connsiteX30" fmla="*/ 6788404 w 10515600"/>
              <a:gd name="connsiteY30" fmla="*/ 1325563 h 1325563"/>
              <a:gd name="connsiteX31" fmla="*/ 6099048 w 10515600"/>
              <a:gd name="connsiteY31" fmla="*/ 1325563 h 1325563"/>
              <a:gd name="connsiteX32" fmla="*/ 5304536 w 10515600"/>
              <a:gd name="connsiteY32" fmla="*/ 1325563 h 1325563"/>
              <a:gd name="connsiteX33" fmla="*/ 5035804 w 10515600"/>
              <a:gd name="connsiteY33" fmla="*/ 1325563 h 1325563"/>
              <a:gd name="connsiteX34" fmla="*/ 4451604 w 10515600"/>
              <a:gd name="connsiteY34" fmla="*/ 1325563 h 1325563"/>
              <a:gd name="connsiteX35" fmla="*/ 3972560 w 10515600"/>
              <a:gd name="connsiteY35" fmla="*/ 1325563 h 1325563"/>
              <a:gd name="connsiteX36" fmla="*/ 3388360 w 10515600"/>
              <a:gd name="connsiteY36" fmla="*/ 1325563 h 1325563"/>
              <a:gd name="connsiteX37" fmla="*/ 2804160 w 10515600"/>
              <a:gd name="connsiteY37" fmla="*/ 1325563 h 1325563"/>
              <a:gd name="connsiteX38" fmla="*/ 2325116 w 10515600"/>
              <a:gd name="connsiteY38" fmla="*/ 1325563 h 1325563"/>
              <a:gd name="connsiteX39" fmla="*/ 1530604 w 10515600"/>
              <a:gd name="connsiteY39" fmla="*/ 1325563 h 1325563"/>
              <a:gd name="connsiteX40" fmla="*/ 1261872 w 10515600"/>
              <a:gd name="connsiteY40" fmla="*/ 1325563 h 1325563"/>
              <a:gd name="connsiteX41" fmla="*/ 572516 w 10515600"/>
              <a:gd name="connsiteY41" fmla="*/ 1325563 h 1325563"/>
              <a:gd name="connsiteX42" fmla="*/ 0 w 10515600"/>
              <a:gd name="connsiteY42" fmla="*/ 1325563 h 1325563"/>
              <a:gd name="connsiteX43" fmla="*/ 0 w 10515600"/>
              <a:gd name="connsiteY43" fmla="*/ 857197 h 1325563"/>
              <a:gd name="connsiteX44" fmla="*/ 0 w 10515600"/>
              <a:gd name="connsiteY44" fmla="*/ 441854 h 1325563"/>
              <a:gd name="connsiteX45" fmla="*/ 0 w 10515600"/>
              <a:gd name="connsiteY45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53838" y="-18819"/>
                  <a:pt x="351414" y="62000"/>
                  <a:pt x="689356" y="0"/>
                </a:cubicBezTo>
                <a:cubicBezTo>
                  <a:pt x="1027298" y="-62000"/>
                  <a:pt x="1020961" y="21931"/>
                  <a:pt x="1168400" y="0"/>
                </a:cubicBezTo>
                <a:cubicBezTo>
                  <a:pt x="1315839" y="-21931"/>
                  <a:pt x="1474707" y="29733"/>
                  <a:pt x="1647444" y="0"/>
                </a:cubicBezTo>
                <a:cubicBezTo>
                  <a:pt x="1820181" y="-29733"/>
                  <a:pt x="1905353" y="35773"/>
                  <a:pt x="2126488" y="0"/>
                </a:cubicBezTo>
                <a:cubicBezTo>
                  <a:pt x="2347623" y="-35773"/>
                  <a:pt x="2474840" y="26931"/>
                  <a:pt x="2710688" y="0"/>
                </a:cubicBezTo>
                <a:cubicBezTo>
                  <a:pt x="2946536" y="-26931"/>
                  <a:pt x="2901208" y="25700"/>
                  <a:pt x="3084576" y="0"/>
                </a:cubicBezTo>
                <a:cubicBezTo>
                  <a:pt x="3267944" y="-25700"/>
                  <a:pt x="3504545" y="40785"/>
                  <a:pt x="3668776" y="0"/>
                </a:cubicBezTo>
                <a:cubicBezTo>
                  <a:pt x="3833007" y="-40785"/>
                  <a:pt x="3895124" y="1762"/>
                  <a:pt x="4042664" y="0"/>
                </a:cubicBezTo>
                <a:cubicBezTo>
                  <a:pt x="4190204" y="-1762"/>
                  <a:pt x="4477573" y="6051"/>
                  <a:pt x="4626864" y="0"/>
                </a:cubicBezTo>
                <a:cubicBezTo>
                  <a:pt x="4776155" y="-6051"/>
                  <a:pt x="4876670" y="35233"/>
                  <a:pt x="5000752" y="0"/>
                </a:cubicBezTo>
                <a:cubicBezTo>
                  <a:pt x="5124834" y="-35233"/>
                  <a:pt x="5320007" y="6376"/>
                  <a:pt x="5479796" y="0"/>
                </a:cubicBezTo>
                <a:cubicBezTo>
                  <a:pt x="5639585" y="-6376"/>
                  <a:pt x="5987388" y="89120"/>
                  <a:pt x="6274308" y="0"/>
                </a:cubicBezTo>
                <a:cubicBezTo>
                  <a:pt x="6561228" y="-89120"/>
                  <a:pt x="6469549" y="14711"/>
                  <a:pt x="6543040" y="0"/>
                </a:cubicBezTo>
                <a:cubicBezTo>
                  <a:pt x="6616531" y="-14711"/>
                  <a:pt x="6880894" y="24867"/>
                  <a:pt x="7127240" y="0"/>
                </a:cubicBezTo>
                <a:cubicBezTo>
                  <a:pt x="7373586" y="-24867"/>
                  <a:pt x="7703353" y="29232"/>
                  <a:pt x="7921752" y="0"/>
                </a:cubicBezTo>
                <a:cubicBezTo>
                  <a:pt x="8140151" y="-29232"/>
                  <a:pt x="8436992" y="15020"/>
                  <a:pt x="8611108" y="0"/>
                </a:cubicBezTo>
                <a:cubicBezTo>
                  <a:pt x="8785224" y="-15020"/>
                  <a:pt x="9086613" y="81581"/>
                  <a:pt x="9300464" y="0"/>
                </a:cubicBezTo>
                <a:cubicBezTo>
                  <a:pt x="9514315" y="-81581"/>
                  <a:pt x="9623261" y="50401"/>
                  <a:pt x="9779508" y="0"/>
                </a:cubicBezTo>
                <a:cubicBezTo>
                  <a:pt x="9935755" y="-50401"/>
                  <a:pt x="10305332" y="31654"/>
                  <a:pt x="10515600" y="0"/>
                </a:cubicBezTo>
                <a:cubicBezTo>
                  <a:pt x="10546853" y="191382"/>
                  <a:pt x="10469454" y="308968"/>
                  <a:pt x="10515600" y="455110"/>
                </a:cubicBezTo>
                <a:cubicBezTo>
                  <a:pt x="10561746" y="601252"/>
                  <a:pt x="10509168" y="742830"/>
                  <a:pt x="10515600" y="870453"/>
                </a:cubicBezTo>
                <a:cubicBezTo>
                  <a:pt x="10522032" y="998076"/>
                  <a:pt x="10471646" y="1208229"/>
                  <a:pt x="10515600" y="1325563"/>
                </a:cubicBezTo>
                <a:cubicBezTo>
                  <a:pt x="10314459" y="1339219"/>
                  <a:pt x="10239166" y="1311799"/>
                  <a:pt x="10036556" y="1325563"/>
                </a:cubicBezTo>
                <a:cubicBezTo>
                  <a:pt x="9833946" y="1339327"/>
                  <a:pt x="9709123" y="1307965"/>
                  <a:pt x="9452356" y="1325563"/>
                </a:cubicBezTo>
                <a:cubicBezTo>
                  <a:pt x="9195589" y="1343161"/>
                  <a:pt x="8994962" y="1306787"/>
                  <a:pt x="8657844" y="1325563"/>
                </a:cubicBezTo>
                <a:cubicBezTo>
                  <a:pt x="8320726" y="1344339"/>
                  <a:pt x="8518055" y="1302532"/>
                  <a:pt x="8389112" y="1325563"/>
                </a:cubicBezTo>
                <a:cubicBezTo>
                  <a:pt x="8260169" y="1348594"/>
                  <a:pt x="8193007" y="1316196"/>
                  <a:pt x="8015224" y="1325563"/>
                </a:cubicBezTo>
                <a:cubicBezTo>
                  <a:pt x="7837441" y="1334930"/>
                  <a:pt x="7849788" y="1324348"/>
                  <a:pt x="7746492" y="1325563"/>
                </a:cubicBezTo>
                <a:cubicBezTo>
                  <a:pt x="7643196" y="1326778"/>
                  <a:pt x="7232373" y="1285719"/>
                  <a:pt x="7057136" y="1325563"/>
                </a:cubicBezTo>
                <a:cubicBezTo>
                  <a:pt x="6881899" y="1365407"/>
                  <a:pt x="6919216" y="1307755"/>
                  <a:pt x="6788404" y="1325563"/>
                </a:cubicBezTo>
                <a:cubicBezTo>
                  <a:pt x="6657592" y="1343371"/>
                  <a:pt x="6278085" y="1271576"/>
                  <a:pt x="6099048" y="1325563"/>
                </a:cubicBezTo>
                <a:cubicBezTo>
                  <a:pt x="5920011" y="1379550"/>
                  <a:pt x="5508657" y="1311185"/>
                  <a:pt x="5304536" y="1325563"/>
                </a:cubicBezTo>
                <a:cubicBezTo>
                  <a:pt x="5100415" y="1339941"/>
                  <a:pt x="5108664" y="1325272"/>
                  <a:pt x="5035804" y="1325563"/>
                </a:cubicBezTo>
                <a:cubicBezTo>
                  <a:pt x="4962944" y="1325854"/>
                  <a:pt x="4711907" y="1259348"/>
                  <a:pt x="4451604" y="1325563"/>
                </a:cubicBezTo>
                <a:cubicBezTo>
                  <a:pt x="4191301" y="1391778"/>
                  <a:pt x="4112922" y="1274610"/>
                  <a:pt x="3972560" y="1325563"/>
                </a:cubicBezTo>
                <a:cubicBezTo>
                  <a:pt x="3832198" y="1376516"/>
                  <a:pt x="3671072" y="1290382"/>
                  <a:pt x="3388360" y="1325563"/>
                </a:cubicBezTo>
                <a:cubicBezTo>
                  <a:pt x="3105648" y="1360744"/>
                  <a:pt x="2958255" y="1258146"/>
                  <a:pt x="2804160" y="1325563"/>
                </a:cubicBezTo>
                <a:cubicBezTo>
                  <a:pt x="2650065" y="1392980"/>
                  <a:pt x="2499275" y="1316491"/>
                  <a:pt x="2325116" y="1325563"/>
                </a:cubicBezTo>
                <a:cubicBezTo>
                  <a:pt x="2150957" y="1334635"/>
                  <a:pt x="1851726" y="1245043"/>
                  <a:pt x="1530604" y="1325563"/>
                </a:cubicBezTo>
                <a:cubicBezTo>
                  <a:pt x="1209482" y="1406083"/>
                  <a:pt x="1376466" y="1302836"/>
                  <a:pt x="1261872" y="1325563"/>
                </a:cubicBezTo>
                <a:cubicBezTo>
                  <a:pt x="1147278" y="1348290"/>
                  <a:pt x="909434" y="1251726"/>
                  <a:pt x="572516" y="1325563"/>
                </a:cubicBezTo>
                <a:cubicBezTo>
                  <a:pt x="235598" y="1399400"/>
                  <a:pt x="227600" y="1323263"/>
                  <a:pt x="0" y="1325563"/>
                </a:cubicBezTo>
                <a:cubicBezTo>
                  <a:pt x="-836" y="1164828"/>
                  <a:pt x="53582" y="1051078"/>
                  <a:pt x="0" y="857197"/>
                </a:cubicBezTo>
                <a:cubicBezTo>
                  <a:pt x="-53582" y="663316"/>
                  <a:pt x="48368" y="606188"/>
                  <a:pt x="0" y="441854"/>
                </a:cubicBezTo>
                <a:cubicBezTo>
                  <a:pt x="-48368" y="277520"/>
                  <a:pt x="14050" y="14676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92178" y="-21222"/>
                  <a:pt x="264011" y="11084"/>
                  <a:pt x="373888" y="0"/>
                </a:cubicBezTo>
                <a:cubicBezTo>
                  <a:pt x="483765" y="-11084"/>
                  <a:pt x="744959" y="34565"/>
                  <a:pt x="852932" y="0"/>
                </a:cubicBezTo>
                <a:cubicBezTo>
                  <a:pt x="960905" y="-34565"/>
                  <a:pt x="1117522" y="45939"/>
                  <a:pt x="1331976" y="0"/>
                </a:cubicBezTo>
                <a:cubicBezTo>
                  <a:pt x="1546430" y="-45939"/>
                  <a:pt x="1819161" y="31205"/>
                  <a:pt x="2021332" y="0"/>
                </a:cubicBezTo>
                <a:cubicBezTo>
                  <a:pt x="2223503" y="-31205"/>
                  <a:pt x="2374427" y="16088"/>
                  <a:pt x="2710688" y="0"/>
                </a:cubicBezTo>
                <a:cubicBezTo>
                  <a:pt x="3046949" y="-16088"/>
                  <a:pt x="3188751" y="11240"/>
                  <a:pt x="3400044" y="0"/>
                </a:cubicBezTo>
                <a:cubicBezTo>
                  <a:pt x="3611337" y="-11240"/>
                  <a:pt x="3729003" y="24882"/>
                  <a:pt x="3984244" y="0"/>
                </a:cubicBezTo>
                <a:cubicBezTo>
                  <a:pt x="4239485" y="-24882"/>
                  <a:pt x="4248661" y="16847"/>
                  <a:pt x="4358132" y="0"/>
                </a:cubicBezTo>
                <a:cubicBezTo>
                  <a:pt x="4467603" y="-16847"/>
                  <a:pt x="4704277" y="78533"/>
                  <a:pt x="5047488" y="0"/>
                </a:cubicBezTo>
                <a:cubicBezTo>
                  <a:pt x="5390699" y="-78533"/>
                  <a:pt x="5478617" y="32801"/>
                  <a:pt x="5631688" y="0"/>
                </a:cubicBezTo>
                <a:cubicBezTo>
                  <a:pt x="5784759" y="-32801"/>
                  <a:pt x="5981634" y="25702"/>
                  <a:pt x="6215888" y="0"/>
                </a:cubicBezTo>
                <a:cubicBezTo>
                  <a:pt x="6450142" y="-25702"/>
                  <a:pt x="6736604" y="19690"/>
                  <a:pt x="6905244" y="0"/>
                </a:cubicBezTo>
                <a:cubicBezTo>
                  <a:pt x="7073884" y="-19690"/>
                  <a:pt x="7286882" y="54355"/>
                  <a:pt x="7384288" y="0"/>
                </a:cubicBezTo>
                <a:cubicBezTo>
                  <a:pt x="7481694" y="-54355"/>
                  <a:pt x="7569919" y="19084"/>
                  <a:pt x="7653020" y="0"/>
                </a:cubicBezTo>
                <a:cubicBezTo>
                  <a:pt x="7736121" y="-19084"/>
                  <a:pt x="8028971" y="7172"/>
                  <a:pt x="8342376" y="0"/>
                </a:cubicBezTo>
                <a:cubicBezTo>
                  <a:pt x="8655781" y="-7172"/>
                  <a:pt x="8513400" y="26567"/>
                  <a:pt x="8611108" y="0"/>
                </a:cubicBezTo>
                <a:cubicBezTo>
                  <a:pt x="8708816" y="-26567"/>
                  <a:pt x="8765519" y="8311"/>
                  <a:pt x="8879840" y="0"/>
                </a:cubicBezTo>
                <a:cubicBezTo>
                  <a:pt x="8994161" y="-8311"/>
                  <a:pt x="9094252" y="11307"/>
                  <a:pt x="9253728" y="0"/>
                </a:cubicBezTo>
                <a:cubicBezTo>
                  <a:pt x="9413204" y="-11307"/>
                  <a:pt x="9611384" y="21739"/>
                  <a:pt x="9732772" y="0"/>
                </a:cubicBezTo>
                <a:cubicBezTo>
                  <a:pt x="9854160" y="-21739"/>
                  <a:pt x="10260773" y="2376"/>
                  <a:pt x="10515600" y="0"/>
                </a:cubicBezTo>
                <a:cubicBezTo>
                  <a:pt x="10547807" y="96027"/>
                  <a:pt x="10502213" y="250485"/>
                  <a:pt x="10515600" y="441854"/>
                </a:cubicBezTo>
                <a:cubicBezTo>
                  <a:pt x="10528987" y="633223"/>
                  <a:pt x="10500953" y="689669"/>
                  <a:pt x="10515600" y="843942"/>
                </a:cubicBezTo>
                <a:cubicBezTo>
                  <a:pt x="10530247" y="998215"/>
                  <a:pt x="10471267" y="1208650"/>
                  <a:pt x="10515600" y="1325563"/>
                </a:cubicBezTo>
                <a:cubicBezTo>
                  <a:pt x="10408911" y="1343606"/>
                  <a:pt x="10186565" y="1311187"/>
                  <a:pt x="10036556" y="1325563"/>
                </a:cubicBezTo>
                <a:cubicBezTo>
                  <a:pt x="9886547" y="1339939"/>
                  <a:pt x="9538345" y="1281053"/>
                  <a:pt x="9347200" y="1325563"/>
                </a:cubicBezTo>
                <a:cubicBezTo>
                  <a:pt x="9156055" y="1370073"/>
                  <a:pt x="9003166" y="1299112"/>
                  <a:pt x="8763000" y="1325563"/>
                </a:cubicBezTo>
                <a:cubicBezTo>
                  <a:pt x="8522834" y="1352014"/>
                  <a:pt x="8471849" y="1310553"/>
                  <a:pt x="8283956" y="1325563"/>
                </a:cubicBezTo>
                <a:cubicBezTo>
                  <a:pt x="8096063" y="1340573"/>
                  <a:pt x="8141020" y="1320966"/>
                  <a:pt x="8015224" y="1325563"/>
                </a:cubicBezTo>
                <a:cubicBezTo>
                  <a:pt x="7889428" y="1330160"/>
                  <a:pt x="7402689" y="1296549"/>
                  <a:pt x="7220712" y="1325563"/>
                </a:cubicBezTo>
                <a:cubicBezTo>
                  <a:pt x="7038735" y="1354577"/>
                  <a:pt x="6860564" y="1290552"/>
                  <a:pt x="6636512" y="1325563"/>
                </a:cubicBezTo>
                <a:cubicBezTo>
                  <a:pt x="6412460" y="1360574"/>
                  <a:pt x="6317643" y="1317756"/>
                  <a:pt x="6052312" y="1325563"/>
                </a:cubicBezTo>
                <a:cubicBezTo>
                  <a:pt x="5786981" y="1333370"/>
                  <a:pt x="5763881" y="1287197"/>
                  <a:pt x="5678424" y="1325563"/>
                </a:cubicBezTo>
                <a:cubicBezTo>
                  <a:pt x="5592967" y="1363929"/>
                  <a:pt x="5399248" y="1312349"/>
                  <a:pt x="5199380" y="1325563"/>
                </a:cubicBezTo>
                <a:cubicBezTo>
                  <a:pt x="4999512" y="1338777"/>
                  <a:pt x="4987883" y="1284423"/>
                  <a:pt x="4825492" y="1325563"/>
                </a:cubicBezTo>
                <a:cubicBezTo>
                  <a:pt x="4663101" y="1366703"/>
                  <a:pt x="4380555" y="1308688"/>
                  <a:pt x="4241292" y="1325563"/>
                </a:cubicBezTo>
                <a:cubicBezTo>
                  <a:pt x="4102029" y="1342438"/>
                  <a:pt x="3778341" y="1285171"/>
                  <a:pt x="3446780" y="1325563"/>
                </a:cubicBezTo>
                <a:cubicBezTo>
                  <a:pt x="3115219" y="1365955"/>
                  <a:pt x="3099173" y="1290652"/>
                  <a:pt x="2757424" y="1325563"/>
                </a:cubicBezTo>
                <a:cubicBezTo>
                  <a:pt x="2415675" y="1360474"/>
                  <a:pt x="2510972" y="1310466"/>
                  <a:pt x="2278380" y="1325563"/>
                </a:cubicBezTo>
                <a:cubicBezTo>
                  <a:pt x="2045788" y="1340660"/>
                  <a:pt x="1716210" y="1317992"/>
                  <a:pt x="1483868" y="1325563"/>
                </a:cubicBezTo>
                <a:cubicBezTo>
                  <a:pt x="1251526" y="1333134"/>
                  <a:pt x="972052" y="1254362"/>
                  <a:pt x="689356" y="1325563"/>
                </a:cubicBezTo>
                <a:cubicBezTo>
                  <a:pt x="406660" y="1396764"/>
                  <a:pt x="201106" y="1320070"/>
                  <a:pt x="0" y="1325563"/>
                </a:cubicBezTo>
                <a:cubicBezTo>
                  <a:pt x="-31617" y="1137567"/>
                  <a:pt x="37158" y="1000617"/>
                  <a:pt x="0" y="896964"/>
                </a:cubicBezTo>
                <a:cubicBezTo>
                  <a:pt x="-37158" y="793311"/>
                  <a:pt x="17420" y="591636"/>
                  <a:pt x="0" y="428599"/>
                </a:cubicBezTo>
                <a:cubicBezTo>
                  <a:pt x="-17420" y="265562"/>
                  <a:pt x="47044" y="122437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576319421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 algn="ctr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9D4A-6B08-C144-AFE3-77A01A5A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066A-E572-A277-D369-78396D58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EF30-4002-714D-0670-A49096DB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FF20-6D76-29F2-418E-8864E01F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03FF-F52F-4E38-0A2E-9DA1C60D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E876-7455-9295-91BF-4F641EF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7266-3916-28B3-A555-7FB1D3D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012B-55DA-34F4-808B-189EA4C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D8DC9-36B0-31D0-B5F2-FC0C84BD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2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EA8A-FF95-E0BD-7238-CF02B00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9762-D796-DC09-14A4-5AD190D82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5D70-A3AC-50F5-06B7-9CE9CF50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C517-D127-635A-B264-F649FC8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DE66-4F81-4974-88C3-7164F909D911}" type="datetime1">
              <a:rPr lang="en-GB" smtClean="0"/>
              <a:t>03/08/2025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902A-670D-5ED9-8D4D-F35167B0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85025-5D85-AC22-6D8F-3E6EE503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0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F54F-E990-F487-57E9-D0FAA74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E450-926E-F984-8F71-955FA0FEC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BA968-AC90-BAC3-F9C8-6F8478B7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AA182-DAAF-6A22-82E6-4D09269F1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F3F09-93B2-51FA-9088-7D9BCEBC6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812B9-38A2-5B54-1BDB-7B50AFC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D5EC-0436-4D1A-B807-42CAECB52F3A}" type="datetime1">
              <a:rPr lang="en-GB" smtClean="0"/>
              <a:t>03/08/2025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CC307-A30C-C6CE-E36C-F3056121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CABA7-3B6D-774C-73DB-AC25CE1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20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5C2-AC71-5CD4-56A8-CA28E159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798A5-3197-07D3-6CD1-2A6563AF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3ADE-44B1-4EF3-919C-3E8C2EF5A85F}" type="datetime1">
              <a:rPr lang="en-GB" smtClean="0"/>
              <a:t>03/08/2025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AD66C-1B15-DB67-7702-F791D23B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D6D4E-F44E-AEA5-1EB9-E5D5B3B5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7971-EA51-1E5E-FABA-79A35091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F570B-75EC-43EA-ABF4-4059CC25C5DE}" type="datetime1">
              <a:rPr lang="en-GB" smtClean="0"/>
              <a:t>03/08/2025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D9B04-D7D8-9928-C4F7-04945D1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0B3C4-33CC-72BA-889F-986C21D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08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A411-0235-0168-189D-927979B3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01DE-2ACF-2FCE-308A-BFFDD68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C266-6F22-04FB-4D09-0BC53C109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3AA6-3A77-7ABB-8CE0-53336682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2AE1-6EC0-47B6-9286-227F6CC4BE37}" type="datetime1">
              <a:rPr lang="en-GB" smtClean="0"/>
              <a:t>03/08/2025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BDD05-C09C-3554-C58E-1FD10B16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CC2B-34F8-346A-1D83-2FA177A6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82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B5CA-54DD-FAF3-9B07-FA2AE2C1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44D3F-4214-F3D0-4E40-C3D7AC72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9081-4537-48AB-E691-80D9C313E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768B4-1148-4864-A694-4E4A62F9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18897-E1BD-4D4D-B0B7-CDDDCC6D391E}" type="datetime1">
              <a:rPr lang="en-GB" smtClean="0"/>
              <a:t>03/08/2025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F3E4C-A1EA-4FA4-37E9-D4BDEC8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227AC-5B9C-43D9-35DB-94115AA5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32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51ED-3800-0D94-43C0-4DC9006B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EAF76-2B38-92CE-1645-607F15BB6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DE2D-65A0-9797-96FC-951FC7CD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AAC1-57D9-4D00-AB02-0520E4D4A784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EA3A-A9E6-9867-EFD1-11A0DDEF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DA0E-F08D-D2E9-D34C-4BE6FAC4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64FED-6CB9-AF94-F333-C88F49B07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D8B65-A0C8-2F43-0A6D-1E466060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72CA-C602-AC11-0A41-83CDB61E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E15E-9DEF-4BA1-88F2-D1C0C031F929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94C6-4E92-45EE-14C2-7582DA46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E9AD-4D06-455A-43CC-97EF29F8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35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396CC-AE2A-8FCF-9294-1636AE5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C19C-91AE-C626-CCEE-59A83424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53CA-04EB-8130-D6AB-D4E0B71E0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A207B-7DFC-4FD1-8A21-6A6CCCD46F9E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C1FF-20C6-4F46-C58B-266E55AA3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F486-2A3E-BC10-5284-9B45A2F5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7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8DFA-AB5E-A717-8846-2B007F75C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Informed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BA92-8188-0147-A078-4FF601FBF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Md Mehrab Hossain Opi</a:t>
            </a:r>
          </a:p>
          <a:p>
            <a:r>
              <a:rPr lang="en-GB" dirty="0"/>
              <a:t>CSE 4109: Artificial Intelligence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96BA-E98B-0C90-A688-7E62AA8D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F5BA6-E035-4879-AB7D-175221F8FC7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7201-96C6-F5CA-638B-7D3FB18C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31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106F-34CB-EC67-C3E6-E172D5E9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Informed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F2880-EDE3-4501-094C-1D2A3F63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Informed Search algorithms use problem-specific knowledge (called a </a:t>
            </a:r>
            <a:r>
              <a:rPr lang="en-GB" b="1" dirty="0"/>
              <a:t>heuristic</a:t>
            </a:r>
            <a:r>
              <a:rPr lang="en-GB" dirty="0"/>
              <a:t>) to make better decision about which path to follow toward the goal.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091A-E5A0-0A67-A508-3E5163D5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B40A5-1884-D747-8FD1-15C15BB0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86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54CA-DCFA-D7C5-C795-B0EDB0D5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7E14B-DC2E-C45F-11CC-4FC69F4779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general approach is called best-first search.</a:t>
                </a:r>
              </a:p>
              <a:p>
                <a:r>
                  <a:rPr lang="en-GB" dirty="0"/>
                  <a:t>A node is selected for expansion based on an evaluation function,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 node with the lowest evaluation is expanded first.</a:t>
                </a:r>
              </a:p>
              <a:p>
                <a:r>
                  <a:rPr lang="en-GB" dirty="0"/>
                  <a:t>The choice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determines the search strategy.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7E14B-DC2E-C45F-11CC-4FC69F4779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24654-94D0-361C-0595-08AC6B13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FD0A94-3AA9-8ECE-1CD0-EDBE3E49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14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F59D-DF40-79FF-A474-351B78D8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Heuristic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F602DF-2951-EBC7-D094-46E4A566CD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Most best-first search algorithms include as a component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a heuristic function, denoted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𝑒𝑠𝑡𝑖𝑚𝑎𝑡𝑒𝑑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𝑐h𝑒𝑎𝑝𝑒𝑠𝑡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𝑝𝑎𝑡h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𝑛𝑜𝑑𝑒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𝑔𝑜𝑎𝑙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F602DF-2951-EBC7-D094-46E4A566CD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7ED8B-FAD7-42D5-AC70-418B92DCE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66733-F6EE-46F2-C772-46A33917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442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2C6F-E10C-C120-4395-35094D7E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Greedy Best-First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7F5A3-A6C6-92D9-1601-78B2F6EDC4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Greedy best-first search selects the node that appears to be closest to the goal, based on the heuristic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only.</a:t>
                </a:r>
              </a:p>
              <a:p>
                <a:endParaRPr lang="en-GB" dirty="0"/>
              </a:p>
              <a:p>
                <a:r>
                  <a:rPr lang="en-GB" dirty="0"/>
                  <a:t>Let’s understand this with the maze problem.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7F5A3-A6C6-92D9-1601-78B2F6EDC4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7C56-3421-11D8-D33B-2B3B409F3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4CBBF9-9731-90E0-FE5D-57C73706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53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5DFA-F3D4-0415-F4F8-C1BC2935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C62E832-E1D9-7489-E102-FFF575C19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07414"/>
              </p:ext>
            </p:extLst>
          </p:nvPr>
        </p:nvGraphicFramePr>
        <p:xfrm>
          <a:off x="2562534" y="3105214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E05CC-A5E8-7563-9915-B59202C0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F4899-F755-C653-B653-80F9A122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</a:t>
            </a:fld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C1EB7F-BF4F-83CB-2676-EA5F7972F532}"/>
              </a:ext>
            </a:extLst>
          </p:cNvPr>
          <p:cNvSpPr/>
          <p:nvPr/>
        </p:nvSpPr>
        <p:spPr>
          <a:xfrm>
            <a:off x="9040555" y="310521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EB116A-2C84-5052-920A-5912B3EF1017}"/>
              </a:ext>
            </a:extLst>
          </p:cNvPr>
          <p:cNvSpPr/>
          <p:nvPr/>
        </p:nvSpPr>
        <p:spPr>
          <a:xfrm>
            <a:off x="2562534" y="533025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90775-9E9B-41CA-5F94-849CC6A266C2}"/>
              </a:ext>
            </a:extLst>
          </p:cNvPr>
          <p:cNvSpPr txBox="1"/>
          <p:nvPr/>
        </p:nvSpPr>
        <p:spPr>
          <a:xfrm>
            <a:off x="3624779" y="1870095"/>
            <a:ext cx="49424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Consider the following maze.</a:t>
            </a:r>
          </a:p>
          <a:p>
            <a:pPr algn="ctr"/>
            <a:r>
              <a:rPr lang="en-GB" dirty="0"/>
              <a:t>The agent wants to go to cell B from the cell A.</a:t>
            </a:r>
          </a:p>
          <a:p>
            <a:pPr algn="ctr"/>
            <a:r>
              <a:rPr lang="en-GB" dirty="0"/>
              <a:t>Our target is to find the shortest path.</a:t>
            </a:r>
          </a:p>
        </p:txBody>
      </p:sp>
    </p:spTree>
    <p:extLst>
      <p:ext uri="{BB962C8B-B14F-4D97-AF65-F5344CB8AC3E}">
        <p14:creationId xmlns:p14="http://schemas.microsoft.com/office/powerpoint/2010/main" val="109919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5FD9F-6C10-4648-4CFE-1762D261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BD09-F048-3EDB-6CFF-A642D67EE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D4851DE-8960-4902-55C5-A4CDFCFDA9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321287"/>
              </p:ext>
            </p:extLst>
          </p:nvPr>
        </p:nvGraphicFramePr>
        <p:xfrm>
          <a:off x="2562534" y="3105214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753EE-9477-D53E-C657-F0E3B859B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D8656-25CE-1EC3-BC68-E553F855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</a:t>
            </a:fld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F4E455-826D-D79A-2196-5C2FAA11F713}"/>
              </a:ext>
            </a:extLst>
          </p:cNvPr>
          <p:cNvSpPr/>
          <p:nvPr/>
        </p:nvSpPr>
        <p:spPr>
          <a:xfrm>
            <a:off x="9040555" y="310521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FC3C75-ED7A-ED27-CFC3-F0B5F874595C}"/>
              </a:ext>
            </a:extLst>
          </p:cNvPr>
          <p:cNvSpPr/>
          <p:nvPr/>
        </p:nvSpPr>
        <p:spPr>
          <a:xfrm>
            <a:off x="2562534" y="533025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19C82-E55C-6850-EE41-84CFEFAB1C4F}"/>
              </a:ext>
            </a:extLst>
          </p:cNvPr>
          <p:cNvSpPr txBox="1"/>
          <p:nvPr/>
        </p:nvSpPr>
        <p:spPr>
          <a:xfrm>
            <a:off x="3272164" y="1870095"/>
            <a:ext cx="564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Between C and D which point will lead us to B faster?</a:t>
            </a:r>
          </a:p>
        </p:txBody>
      </p:sp>
    </p:spTree>
    <p:extLst>
      <p:ext uri="{BB962C8B-B14F-4D97-AF65-F5344CB8AC3E}">
        <p14:creationId xmlns:p14="http://schemas.microsoft.com/office/powerpoint/2010/main" val="110241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D5DEF-154A-CDD6-33CA-1A5F9A44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F26D-4FAD-4615-43BE-72DB83FB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433196A-B32F-4C83-BE6D-C0EA7CAAC8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531968"/>
              </p:ext>
            </p:extLst>
          </p:nvPr>
        </p:nvGraphicFramePr>
        <p:xfrm>
          <a:off x="2562534" y="3105214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08F4E-07FC-31DE-BB91-A8D3EEB3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61AD5-1DFE-CCBB-E048-0F07CDE5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8</a:t>
            </a:fld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C24949-A649-C636-586E-02C880112BCB}"/>
              </a:ext>
            </a:extLst>
          </p:cNvPr>
          <p:cNvSpPr/>
          <p:nvPr/>
        </p:nvSpPr>
        <p:spPr>
          <a:xfrm>
            <a:off x="9040555" y="310521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9BE770-FE43-5F5E-DE22-C01EBD22DD1A}"/>
              </a:ext>
            </a:extLst>
          </p:cNvPr>
          <p:cNvSpPr/>
          <p:nvPr/>
        </p:nvSpPr>
        <p:spPr>
          <a:xfrm>
            <a:off x="2562534" y="533025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793E1-EA10-7FCD-5217-B96A20F9215C}"/>
              </a:ext>
            </a:extLst>
          </p:cNvPr>
          <p:cNvSpPr txBox="1"/>
          <p:nvPr/>
        </p:nvSpPr>
        <p:spPr>
          <a:xfrm>
            <a:off x="3934689" y="1870095"/>
            <a:ext cx="4322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Let’s consider the Manhattan distance.</a:t>
            </a:r>
          </a:p>
          <a:p>
            <a:pPr algn="ctr"/>
            <a:r>
              <a:rPr lang="en-GB" dirty="0"/>
              <a:t>We will use this as the heuristic function.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DB45230-A685-A8FA-66A4-3115FC685F45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447288" y="3290634"/>
            <a:ext cx="5593267" cy="961326"/>
          </a:xfrm>
          <a:prstGeom prst="bentConnector3">
            <a:avLst>
              <a:gd name="adj1" fmla="val 138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DB22373-D493-ADF1-BBAD-5DBF78D1532F}"/>
              </a:ext>
            </a:extLst>
          </p:cNvPr>
          <p:cNvCxnSpPr>
            <a:endCxn id="23" idx="2"/>
          </p:cNvCxnSpPr>
          <p:nvPr/>
        </p:nvCxnSpPr>
        <p:spPr>
          <a:xfrm flipV="1">
            <a:off x="7095744" y="3476054"/>
            <a:ext cx="2239267" cy="556450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68C6F3-DFA7-6721-CF97-234D48819849}"/>
                  </a:ext>
                </a:extLst>
              </p:cNvPr>
              <p:cNvSpPr txBox="1"/>
              <p:nvPr/>
            </p:nvSpPr>
            <p:spPr>
              <a:xfrm>
                <a:off x="3581400" y="2735882"/>
                <a:ext cx="12784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68C6F3-DFA7-6721-CF97-234D48819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735882"/>
                <a:ext cx="127842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6F38FE-2D94-D1D6-F209-5FFD373133FE}"/>
                  </a:ext>
                </a:extLst>
              </p:cNvPr>
              <p:cNvSpPr txBox="1"/>
              <p:nvPr/>
            </p:nvSpPr>
            <p:spPr>
              <a:xfrm>
                <a:off x="9629466" y="3586631"/>
                <a:ext cx="10409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6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6F38FE-2D94-D1D6-F209-5FFD37313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466" y="3586631"/>
                <a:ext cx="1040991" cy="369332"/>
              </a:xfrm>
              <a:prstGeom prst="rect">
                <a:avLst/>
              </a:prstGeom>
              <a:blipFill>
                <a:blip r:embed="rId3"/>
                <a:stretch>
                  <a:fillRect t="-8197" r="-4118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02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715E4-4C61-556F-870E-C8F07878F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5635-1CA5-E145-D18C-AE8BA5446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AF7FC8-4ED0-8AB6-4F0F-C3D06C30BE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881560"/>
              </p:ext>
            </p:extLst>
          </p:nvPr>
        </p:nvGraphicFramePr>
        <p:xfrm>
          <a:off x="2562534" y="3021330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208FD-1D74-EACD-5D43-E14F98DB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071E9-CF48-63F9-B3B5-B70A6549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37CD1D-A1A0-61D9-256D-901BD8864CB4}"/>
                  </a:ext>
                </a:extLst>
              </p:cNvPr>
              <p:cNvSpPr txBox="1"/>
              <p:nvPr/>
            </p:nvSpPr>
            <p:spPr>
              <a:xfrm>
                <a:off x="4287364" y="2282190"/>
                <a:ext cx="36172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Let’s find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for all the cells.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37CD1D-A1A0-61D9-256D-901BD8864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364" y="2282190"/>
                <a:ext cx="3617272" cy="369332"/>
              </a:xfrm>
              <a:prstGeom prst="rect">
                <a:avLst/>
              </a:prstGeom>
              <a:blipFill>
                <a:blip r:embed="rId2"/>
                <a:stretch>
                  <a:fillRect l="-1347" t="-8197" r="-67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444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C62E832-E1D9-7489-E102-FFF575C19C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534" y="1958360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E05CC-A5E8-7563-9915-B59202C0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F4899-F755-C653-B653-80F9A122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10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0262F-94C8-75D0-C639-41C86BB45E42}"/>
              </a:ext>
            </a:extLst>
          </p:cNvPr>
          <p:cNvSpPr/>
          <p:nvPr/>
        </p:nvSpPr>
        <p:spPr>
          <a:xfrm>
            <a:off x="2562534" y="41834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078BD3-4A00-6CA3-B40C-A5728FBD8226}"/>
              </a:ext>
            </a:extLst>
          </p:cNvPr>
          <p:cNvSpPr/>
          <p:nvPr/>
        </p:nvSpPr>
        <p:spPr>
          <a:xfrm>
            <a:off x="3151445" y="41834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BEA68-07EA-FB96-DF8D-6DFB8B5C3554}"/>
              </a:ext>
            </a:extLst>
          </p:cNvPr>
          <p:cNvSpPr/>
          <p:nvPr/>
        </p:nvSpPr>
        <p:spPr>
          <a:xfrm>
            <a:off x="3740356" y="41834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336418-BAF6-C0F8-065C-8B56F2DA0D81}"/>
              </a:ext>
            </a:extLst>
          </p:cNvPr>
          <p:cNvSpPr/>
          <p:nvPr/>
        </p:nvSpPr>
        <p:spPr>
          <a:xfrm>
            <a:off x="4329267" y="41834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7620B-D09B-A81B-4B22-81516F69BB01}"/>
              </a:ext>
            </a:extLst>
          </p:cNvPr>
          <p:cNvSpPr/>
          <p:nvPr/>
        </p:nvSpPr>
        <p:spPr>
          <a:xfrm>
            <a:off x="4324762" y="38125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F3AB6-DAAF-4BC7-B783-5FF7E57AC3F7}"/>
              </a:ext>
            </a:extLst>
          </p:cNvPr>
          <p:cNvSpPr/>
          <p:nvPr/>
        </p:nvSpPr>
        <p:spPr>
          <a:xfrm>
            <a:off x="4326607" y="34417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D38AAB-7A97-9DF6-5434-A719BCEE898E}"/>
              </a:ext>
            </a:extLst>
          </p:cNvPr>
          <p:cNvSpPr/>
          <p:nvPr/>
        </p:nvSpPr>
        <p:spPr>
          <a:xfrm>
            <a:off x="4921357" y="34417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02D2F6-5712-5313-2840-68A42C8DA4A3}"/>
              </a:ext>
            </a:extLst>
          </p:cNvPr>
          <p:cNvSpPr/>
          <p:nvPr/>
        </p:nvSpPr>
        <p:spPr>
          <a:xfrm>
            <a:off x="4921357" y="306707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827E42-9195-1B92-3765-1EBCECB43A07}"/>
              </a:ext>
            </a:extLst>
          </p:cNvPr>
          <p:cNvSpPr/>
          <p:nvPr/>
        </p:nvSpPr>
        <p:spPr>
          <a:xfrm>
            <a:off x="4913673" y="270004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8C5877-E669-F07C-C97B-0248568823C3}"/>
              </a:ext>
            </a:extLst>
          </p:cNvPr>
          <p:cNvSpPr/>
          <p:nvPr/>
        </p:nvSpPr>
        <p:spPr>
          <a:xfrm>
            <a:off x="4915007" y="23228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8708D3-4183-3C7B-94CA-BC692B20D7F5}"/>
              </a:ext>
            </a:extLst>
          </p:cNvPr>
          <p:cNvSpPr/>
          <p:nvPr/>
        </p:nvSpPr>
        <p:spPr>
          <a:xfrm>
            <a:off x="4915007" y="19583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6A13AA-D7AA-1C14-1DDA-6766D587CBFC}"/>
              </a:ext>
            </a:extLst>
          </p:cNvPr>
          <p:cNvSpPr/>
          <p:nvPr/>
        </p:nvSpPr>
        <p:spPr>
          <a:xfrm>
            <a:off x="5502584" y="232985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BED25E-CD7D-6A35-E93E-6AB7F3427E71}"/>
              </a:ext>
            </a:extLst>
          </p:cNvPr>
          <p:cNvSpPr/>
          <p:nvPr/>
        </p:nvSpPr>
        <p:spPr>
          <a:xfrm>
            <a:off x="6094979" y="233049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395DFA-F479-8ABC-1FB7-8450CF1E97C5}"/>
              </a:ext>
            </a:extLst>
          </p:cNvPr>
          <p:cNvSpPr/>
          <p:nvPr/>
        </p:nvSpPr>
        <p:spPr>
          <a:xfrm>
            <a:off x="6097845" y="27013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1D7A36-E099-4A43-C620-F7C699860C0C}"/>
              </a:ext>
            </a:extLst>
          </p:cNvPr>
          <p:cNvSpPr/>
          <p:nvPr/>
        </p:nvSpPr>
        <p:spPr>
          <a:xfrm>
            <a:off x="6682658" y="269627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C1EB7F-BF4F-83CB-2676-EA5F7972F532}"/>
              </a:ext>
            </a:extLst>
          </p:cNvPr>
          <p:cNvSpPr/>
          <p:nvPr/>
        </p:nvSpPr>
        <p:spPr>
          <a:xfrm>
            <a:off x="7272697" y="270004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760F21-4493-4779-5D6D-31FDC4F308DC}"/>
              </a:ext>
            </a:extLst>
          </p:cNvPr>
          <p:cNvSpPr/>
          <p:nvPr/>
        </p:nvSpPr>
        <p:spPr>
          <a:xfrm>
            <a:off x="7271878" y="23292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406210-8EDC-F03C-C6BB-E09383DE4990}"/>
              </a:ext>
            </a:extLst>
          </p:cNvPr>
          <p:cNvSpPr/>
          <p:nvPr/>
        </p:nvSpPr>
        <p:spPr>
          <a:xfrm>
            <a:off x="7276285" y="196213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D664DF-05FB-781F-258C-DA33C8EF3B26}"/>
              </a:ext>
            </a:extLst>
          </p:cNvPr>
          <p:cNvSpPr/>
          <p:nvPr/>
        </p:nvSpPr>
        <p:spPr>
          <a:xfrm>
            <a:off x="7871546" y="196471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A0C52A-120F-0280-162E-4CE6B625B1AA}"/>
              </a:ext>
            </a:extLst>
          </p:cNvPr>
          <p:cNvSpPr/>
          <p:nvPr/>
        </p:nvSpPr>
        <p:spPr>
          <a:xfrm>
            <a:off x="7271162" y="307088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CE2D84-4E5E-B667-72C0-EDAF60A5B932}"/>
              </a:ext>
            </a:extLst>
          </p:cNvPr>
          <p:cNvSpPr/>
          <p:nvPr/>
        </p:nvSpPr>
        <p:spPr>
          <a:xfrm>
            <a:off x="7271161" y="34379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414649-9B12-6024-73A9-CD5D0E58490A}"/>
              </a:ext>
            </a:extLst>
          </p:cNvPr>
          <p:cNvSpPr/>
          <p:nvPr/>
        </p:nvSpPr>
        <p:spPr>
          <a:xfrm>
            <a:off x="7855567" y="34379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6E2180-ADED-D968-1D2B-EABF08901B61}"/>
              </a:ext>
            </a:extLst>
          </p:cNvPr>
          <p:cNvSpPr/>
          <p:nvPr/>
        </p:nvSpPr>
        <p:spPr>
          <a:xfrm>
            <a:off x="8439972" y="34443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37A4F9-3E13-B740-C0CA-442C4D6A1EC7}"/>
              </a:ext>
            </a:extLst>
          </p:cNvPr>
          <p:cNvSpPr/>
          <p:nvPr/>
        </p:nvSpPr>
        <p:spPr>
          <a:xfrm>
            <a:off x="9038815" y="34443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882CD5-ABC3-16E0-9312-477211424612}"/>
              </a:ext>
            </a:extLst>
          </p:cNvPr>
          <p:cNvSpPr/>
          <p:nvPr/>
        </p:nvSpPr>
        <p:spPr>
          <a:xfrm>
            <a:off x="9028883" y="306451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337B61-4782-01C4-83CE-DD5793DB1081}"/>
              </a:ext>
            </a:extLst>
          </p:cNvPr>
          <p:cNvSpPr/>
          <p:nvPr/>
        </p:nvSpPr>
        <p:spPr>
          <a:xfrm>
            <a:off x="9033233" y="269627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D6437B-4607-1DBC-EFA8-5EA1F711DF3A}"/>
              </a:ext>
            </a:extLst>
          </p:cNvPr>
          <p:cNvSpPr/>
          <p:nvPr/>
        </p:nvSpPr>
        <p:spPr>
          <a:xfrm>
            <a:off x="9029468" y="23228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EB116A-2C84-5052-920A-5912B3EF1017}"/>
              </a:ext>
            </a:extLst>
          </p:cNvPr>
          <p:cNvSpPr/>
          <p:nvPr/>
        </p:nvSpPr>
        <p:spPr>
          <a:xfrm>
            <a:off x="9028882" y="196865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F3E2DD1-A51E-C9FD-FCAD-51F7E25B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271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9DA49-5B5B-DDC0-3A27-F3A6E2AB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3832F-2882-3649-7390-F43EE7A6B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87A81E-F3C7-B224-EFA8-93994488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11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828A223-6FB9-2B2E-C414-41F2F48494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5888187"/>
              </p:ext>
            </p:extLst>
          </p:nvPr>
        </p:nvGraphicFramePr>
        <p:xfrm>
          <a:off x="2562534" y="2985485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0643918-DB44-1A14-F602-1786EE285934}"/>
              </a:ext>
            </a:extLst>
          </p:cNvPr>
          <p:cNvSpPr/>
          <p:nvPr/>
        </p:nvSpPr>
        <p:spPr>
          <a:xfrm>
            <a:off x="2562534" y="521052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6E0113-1D90-A9A4-FB42-D474429A71C6}"/>
              </a:ext>
            </a:extLst>
          </p:cNvPr>
          <p:cNvSpPr/>
          <p:nvPr/>
        </p:nvSpPr>
        <p:spPr>
          <a:xfrm>
            <a:off x="3151445" y="521052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0C2988-962A-ED7F-3A56-D63C15BAC212}"/>
              </a:ext>
            </a:extLst>
          </p:cNvPr>
          <p:cNvSpPr/>
          <p:nvPr/>
        </p:nvSpPr>
        <p:spPr>
          <a:xfrm>
            <a:off x="3740356" y="521052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F1D2B0-04FA-7B9D-54FF-201728342D07}"/>
              </a:ext>
            </a:extLst>
          </p:cNvPr>
          <p:cNvSpPr/>
          <p:nvPr/>
        </p:nvSpPr>
        <p:spPr>
          <a:xfrm>
            <a:off x="4329267" y="521052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41DC02-8569-5F52-A854-9E2162F79EB1}"/>
              </a:ext>
            </a:extLst>
          </p:cNvPr>
          <p:cNvSpPr/>
          <p:nvPr/>
        </p:nvSpPr>
        <p:spPr>
          <a:xfrm>
            <a:off x="4329266" y="483968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B4E378-98D9-0AB3-D967-928627190306}"/>
              </a:ext>
            </a:extLst>
          </p:cNvPr>
          <p:cNvSpPr/>
          <p:nvPr/>
        </p:nvSpPr>
        <p:spPr>
          <a:xfrm>
            <a:off x="4329266" y="446884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C25A58-03BE-4284-5693-BC52265B9C8E}"/>
              </a:ext>
            </a:extLst>
          </p:cNvPr>
          <p:cNvSpPr/>
          <p:nvPr/>
        </p:nvSpPr>
        <p:spPr>
          <a:xfrm>
            <a:off x="4329253" y="409482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767058-39CE-F339-B341-4572348FFA59}"/>
              </a:ext>
            </a:extLst>
          </p:cNvPr>
          <p:cNvSpPr/>
          <p:nvPr/>
        </p:nvSpPr>
        <p:spPr>
          <a:xfrm>
            <a:off x="4329253" y="372232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CDE49-6272-351C-71A1-62473A1F40C4}"/>
              </a:ext>
            </a:extLst>
          </p:cNvPr>
          <p:cNvSpPr/>
          <p:nvPr/>
        </p:nvSpPr>
        <p:spPr>
          <a:xfrm>
            <a:off x="4918152" y="37352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B9324D-2B88-7815-86BC-BBC2598DF7B0}"/>
              </a:ext>
            </a:extLst>
          </p:cNvPr>
          <p:cNvSpPr/>
          <p:nvPr/>
        </p:nvSpPr>
        <p:spPr>
          <a:xfrm>
            <a:off x="5507063" y="372954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4770B0-2650-AB99-77F2-591A534E8A7E}"/>
              </a:ext>
            </a:extLst>
          </p:cNvPr>
          <p:cNvSpPr/>
          <p:nvPr/>
        </p:nvSpPr>
        <p:spPr>
          <a:xfrm>
            <a:off x="6095955" y="372764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5CF6FC-6C0A-03FC-2CA3-A616E8F816D0}"/>
              </a:ext>
            </a:extLst>
          </p:cNvPr>
          <p:cNvSpPr/>
          <p:nvPr/>
        </p:nvSpPr>
        <p:spPr>
          <a:xfrm>
            <a:off x="6684847" y="372192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941587-05BE-93DA-BC1E-01C6A32D170C}"/>
              </a:ext>
            </a:extLst>
          </p:cNvPr>
          <p:cNvSpPr/>
          <p:nvPr/>
        </p:nvSpPr>
        <p:spPr>
          <a:xfrm>
            <a:off x="7273720" y="37352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3DF49-EF2E-71AE-DD08-365723C68B38}"/>
              </a:ext>
            </a:extLst>
          </p:cNvPr>
          <p:cNvSpPr/>
          <p:nvPr/>
        </p:nvSpPr>
        <p:spPr>
          <a:xfrm>
            <a:off x="7862574" y="3733356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D9E156-CA98-BBA8-DA8A-570B4F2EB881}"/>
              </a:ext>
            </a:extLst>
          </p:cNvPr>
          <p:cNvSpPr/>
          <p:nvPr/>
        </p:nvSpPr>
        <p:spPr>
          <a:xfrm>
            <a:off x="7870156" y="409482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A0DFCB-C83C-D74B-F17B-20EAEFAC7FFE}"/>
              </a:ext>
            </a:extLst>
          </p:cNvPr>
          <p:cNvSpPr/>
          <p:nvPr/>
        </p:nvSpPr>
        <p:spPr>
          <a:xfrm>
            <a:off x="7865272" y="447376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F0C52A-5274-B023-B7EF-57F6F8CDB8E0}"/>
              </a:ext>
            </a:extLst>
          </p:cNvPr>
          <p:cNvSpPr/>
          <p:nvPr/>
        </p:nvSpPr>
        <p:spPr>
          <a:xfrm>
            <a:off x="7273663" y="447289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5DE06C-B24F-48B9-8885-5093B438ABA1}"/>
              </a:ext>
            </a:extLst>
          </p:cNvPr>
          <p:cNvSpPr/>
          <p:nvPr/>
        </p:nvSpPr>
        <p:spPr>
          <a:xfrm>
            <a:off x="6684517" y="4464958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B0D22F-65F0-E62C-91A8-260744D94AD1}"/>
              </a:ext>
            </a:extLst>
          </p:cNvPr>
          <p:cNvSpPr/>
          <p:nvPr/>
        </p:nvSpPr>
        <p:spPr>
          <a:xfrm>
            <a:off x="6092680" y="44614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EE9DB6-09E9-F23C-8126-B5770F7A20A8}"/>
              </a:ext>
            </a:extLst>
          </p:cNvPr>
          <p:cNvSpPr/>
          <p:nvPr/>
        </p:nvSpPr>
        <p:spPr>
          <a:xfrm>
            <a:off x="5508074" y="446312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D3A1F1-9368-FDB8-E534-61C162729E9E}"/>
              </a:ext>
            </a:extLst>
          </p:cNvPr>
          <p:cNvSpPr/>
          <p:nvPr/>
        </p:nvSpPr>
        <p:spPr>
          <a:xfrm>
            <a:off x="5517186" y="483945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B154A5-E727-5A83-9297-01A5E6D97D12}"/>
              </a:ext>
            </a:extLst>
          </p:cNvPr>
          <p:cNvSpPr/>
          <p:nvPr/>
        </p:nvSpPr>
        <p:spPr>
          <a:xfrm>
            <a:off x="9040291" y="299120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61BB96-DCCE-364B-17D5-F7691C252AB9}"/>
              </a:ext>
            </a:extLst>
          </p:cNvPr>
          <p:cNvSpPr/>
          <p:nvPr/>
        </p:nvSpPr>
        <p:spPr>
          <a:xfrm>
            <a:off x="5509566" y="520982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066DE9-5AD9-1913-EFCB-F221C78DA7BF}"/>
              </a:ext>
            </a:extLst>
          </p:cNvPr>
          <p:cNvSpPr/>
          <p:nvPr/>
        </p:nvSpPr>
        <p:spPr>
          <a:xfrm>
            <a:off x="6092679" y="5209573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7CA209-A295-3C1B-3056-D091B3154439}"/>
              </a:ext>
            </a:extLst>
          </p:cNvPr>
          <p:cNvSpPr/>
          <p:nvPr/>
        </p:nvSpPr>
        <p:spPr>
          <a:xfrm>
            <a:off x="6689865" y="52086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03262F-EC16-54B7-1716-C80AF44537BE}"/>
              </a:ext>
            </a:extLst>
          </p:cNvPr>
          <p:cNvSpPr/>
          <p:nvPr/>
        </p:nvSpPr>
        <p:spPr>
          <a:xfrm>
            <a:off x="7279431" y="520719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568731-9A6C-E7FF-05AB-FBFB665A08C8}"/>
              </a:ext>
            </a:extLst>
          </p:cNvPr>
          <p:cNvSpPr/>
          <p:nvPr/>
        </p:nvSpPr>
        <p:spPr>
          <a:xfrm>
            <a:off x="7870156" y="520982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C36520-7005-1097-4A56-61E5945B0AC3}"/>
              </a:ext>
            </a:extLst>
          </p:cNvPr>
          <p:cNvSpPr/>
          <p:nvPr/>
        </p:nvSpPr>
        <p:spPr>
          <a:xfrm>
            <a:off x="8451380" y="520734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FA0047-9A8B-109D-B645-CF0CF57F0D9C}"/>
              </a:ext>
            </a:extLst>
          </p:cNvPr>
          <p:cNvSpPr/>
          <p:nvPr/>
        </p:nvSpPr>
        <p:spPr>
          <a:xfrm>
            <a:off x="9040224" y="520973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43B574-8A01-7B80-D1BF-57D29F6860A7}"/>
              </a:ext>
            </a:extLst>
          </p:cNvPr>
          <p:cNvSpPr/>
          <p:nvPr/>
        </p:nvSpPr>
        <p:spPr>
          <a:xfrm>
            <a:off x="9040224" y="48353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101206-E0FE-5EA7-1FD9-1EC5647FA068}"/>
              </a:ext>
            </a:extLst>
          </p:cNvPr>
          <p:cNvSpPr/>
          <p:nvPr/>
        </p:nvSpPr>
        <p:spPr>
          <a:xfrm>
            <a:off x="9040223" y="447360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DA5D8E-D423-586E-9255-E9DD9A6E7D15}"/>
              </a:ext>
            </a:extLst>
          </p:cNvPr>
          <p:cNvSpPr/>
          <p:nvPr/>
        </p:nvSpPr>
        <p:spPr>
          <a:xfrm>
            <a:off x="9040222" y="409848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832740E-5F3E-7FB9-2BD7-017DF854FD1A}"/>
              </a:ext>
            </a:extLst>
          </p:cNvPr>
          <p:cNvSpPr/>
          <p:nvPr/>
        </p:nvSpPr>
        <p:spPr>
          <a:xfrm>
            <a:off x="9040221" y="372914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6FF29D-7CB8-6A74-182A-DEAE8F374F07}"/>
              </a:ext>
            </a:extLst>
          </p:cNvPr>
          <p:cNvSpPr/>
          <p:nvPr/>
        </p:nvSpPr>
        <p:spPr>
          <a:xfrm>
            <a:off x="9040221" y="335521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2A61CE-00E2-8211-0EF7-84A3C2FCE713}"/>
              </a:ext>
            </a:extLst>
          </p:cNvPr>
          <p:cNvSpPr txBox="1"/>
          <p:nvPr/>
        </p:nvSpPr>
        <p:spPr>
          <a:xfrm>
            <a:off x="3302443" y="2096341"/>
            <a:ext cx="616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Now, let’s apply the same algorithm on the following maze.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B3EFF1-B133-175E-F1D6-D53E31137595}"/>
              </a:ext>
            </a:extLst>
          </p:cNvPr>
          <p:cNvSpPr txBox="1"/>
          <p:nvPr/>
        </p:nvSpPr>
        <p:spPr>
          <a:xfrm>
            <a:off x="5168924" y="2466394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 it the shortest path?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24B9A3-85B9-9CC3-E612-52581DA5DCE8}"/>
              </a:ext>
            </a:extLst>
          </p:cNvPr>
          <p:cNvSpPr txBox="1"/>
          <p:nvPr/>
        </p:nvSpPr>
        <p:spPr>
          <a:xfrm>
            <a:off x="9802368" y="3654187"/>
            <a:ext cx="117852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Cost = 33</a:t>
            </a:r>
          </a:p>
        </p:txBody>
      </p:sp>
    </p:spTree>
    <p:extLst>
      <p:ext uri="{BB962C8B-B14F-4D97-AF65-F5344CB8AC3E}">
        <p14:creationId xmlns:p14="http://schemas.microsoft.com/office/powerpoint/2010/main" val="285756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30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79AAA-9654-4850-1E1E-A433FE238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6B73-029B-0163-4600-94D787A0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01BC8-94E8-82CD-94D5-28FA7477F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7118C-9DCA-F6B4-A1A0-383999D1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12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AB79FDA-4003-923D-5E76-75841CEE6C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6455833"/>
              </p:ext>
            </p:extLst>
          </p:nvPr>
        </p:nvGraphicFramePr>
        <p:xfrm>
          <a:off x="2562534" y="2385537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A371B36-2028-8A42-EFCA-5ED9DEA335DE}"/>
              </a:ext>
            </a:extLst>
          </p:cNvPr>
          <p:cNvSpPr/>
          <p:nvPr/>
        </p:nvSpPr>
        <p:spPr>
          <a:xfrm>
            <a:off x="2562534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D41061-783B-D263-A1D9-FC74393C93D9}"/>
              </a:ext>
            </a:extLst>
          </p:cNvPr>
          <p:cNvSpPr/>
          <p:nvPr/>
        </p:nvSpPr>
        <p:spPr>
          <a:xfrm>
            <a:off x="3151445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4B76D-A4C5-5FCD-6FA0-47AE4E080A84}"/>
              </a:ext>
            </a:extLst>
          </p:cNvPr>
          <p:cNvSpPr/>
          <p:nvPr/>
        </p:nvSpPr>
        <p:spPr>
          <a:xfrm>
            <a:off x="3740356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9692B2-D16C-1637-279C-A7E4BAFF2026}"/>
              </a:ext>
            </a:extLst>
          </p:cNvPr>
          <p:cNvSpPr/>
          <p:nvPr/>
        </p:nvSpPr>
        <p:spPr>
          <a:xfrm>
            <a:off x="4329267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A1C8C8-CADE-A440-8374-B3E3BE05FE01}"/>
              </a:ext>
            </a:extLst>
          </p:cNvPr>
          <p:cNvSpPr/>
          <p:nvPr/>
        </p:nvSpPr>
        <p:spPr>
          <a:xfrm>
            <a:off x="4329266" y="422703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620F59-934E-8451-A2D1-B8D3A06D70F5}"/>
              </a:ext>
            </a:extLst>
          </p:cNvPr>
          <p:cNvSpPr/>
          <p:nvPr/>
        </p:nvSpPr>
        <p:spPr>
          <a:xfrm>
            <a:off x="4329266" y="385619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FB894B-DB8E-D914-C058-3C0B6EF14ADA}"/>
              </a:ext>
            </a:extLst>
          </p:cNvPr>
          <p:cNvSpPr/>
          <p:nvPr/>
        </p:nvSpPr>
        <p:spPr>
          <a:xfrm>
            <a:off x="3740355" y="386534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013BBA-048E-3F59-2313-E2A0F0EB7850}"/>
              </a:ext>
            </a:extLst>
          </p:cNvPr>
          <p:cNvSpPr/>
          <p:nvPr/>
        </p:nvSpPr>
        <p:spPr>
          <a:xfrm>
            <a:off x="3151445" y="386534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4DD9B-357A-78B1-6F1C-CD6983A4873A}"/>
              </a:ext>
            </a:extLst>
          </p:cNvPr>
          <p:cNvSpPr/>
          <p:nvPr/>
        </p:nvSpPr>
        <p:spPr>
          <a:xfrm>
            <a:off x="3151444" y="34921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DCB22D-887C-72BC-5E35-CDC7D475C532}"/>
              </a:ext>
            </a:extLst>
          </p:cNvPr>
          <p:cNvSpPr/>
          <p:nvPr/>
        </p:nvSpPr>
        <p:spPr>
          <a:xfrm>
            <a:off x="3151443" y="311889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4EFD08-D8F1-206F-B6B6-E23CA33CAD59}"/>
              </a:ext>
            </a:extLst>
          </p:cNvPr>
          <p:cNvSpPr/>
          <p:nvPr/>
        </p:nvSpPr>
        <p:spPr>
          <a:xfrm>
            <a:off x="3151442" y="274296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46CAB5-A709-AB56-798E-3C5BD6B6E853}"/>
              </a:ext>
            </a:extLst>
          </p:cNvPr>
          <p:cNvSpPr/>
          <p:nvPr/>
        </p:nvSpPr>
        <p:spPr>
          <a:xfrm>
            <a:off x="3151441" y="237283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A79A54-870E-6341-1C36-5D67415B0126}"/>
              </a:ext>
            </a:extLst>
          </p:cNvPr>
          <p:cNvSpPr/>
          <p:nvPr/>
        </p:nvSpPr>
        <p:spPr>
          <a:xfrm>
            <a:off x="3740354" y="238160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9587B4-DD45-34F6-A113-DCEDF70A99E5}"/>
              </a:ext>
            </a:extLst>
          </p:cNvPr>
          <p:cNvSpPr/>
          <p:nvPr/>
        </p:nvSpPr>
        <p:spPr>
          <a:xfrm>
            <a:off x="4329259" y="237410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E4D821-41E8-20E0-094F-EF70F39D7332}"/>
              </a:ext>
            </a:extLst>
          </p:cNvPr>
          <p:cNvSpPr/>
          <p:nvPr/>
        </p:nvSpPr>
        <p:spPr>
          <a:xfrm>
            <a:off x="4918164" y="2378553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28F6AF-6759-C39D-077B-68992ED02122}"/>
              </a:ext>
            </a:extLst>
          </p:cNvPr>
          <p:cNvSpPr/>
          <p:nvPr/>
        </p:nvSpPr>
        <p:spPr>
          <a:xfrm>
            <a:off x="5507063" y="238045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75D8D0-135E-C6DF-89AF-1AD90FE73F20}"/>
              </a:ext>
            </a:extLst>
          </p:cNvPr>
          <p:cNvSpPr/>
          <p:nvPr/>
        </p:nvSpPr>
        <p:spPr>
          <a:xfrm>
            <a:off x="6095956" y="238045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874A90-A449-59BC-9DAB-305AB9BC256C}"/>
              </a:ext>
            </a:extLst>
          </p:cNvPr>
          <p:cNvSpPr/>
          <p:nvPr/>
        </p:nvSpPr>
        <p:spPr>
          <a:xfrm>
            <a:off x="6684906" y="23800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5DE06-FF15-1E27-C0A7-049DC42DC8AF}"/>
              </a:ext>
            </a:extLst>
          </p:cNvPr>
          <p:cNvSpPr/>
          <p:nvPr/>
        </p:nvSpPr>
        <p:spPr>
          <a:xfrm>
            <a:off x="7273780" y="23786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F216F2-8841-AC67-1F2B-2E07CC39E67E}"/>
              </a:ext>
            </a:extLst>
          </p:cNvPr>
          <p:cNvSpPr/>
          <p:nvPr/>
        </p:nvSpPr>
        <p:spPr>
          <a:xfrm>
            <a:off x="7862654" y="23800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9CA993-72C3-4DCE-7777-2FA9967E1C9E}"/>
              </a:ext>
            </a:extLst>
          </p:cNvPr>
          <p:cNvSpPr/>
          <p:nvPr/>
        </p:nvSpPr>
        <p:spPr>
          <a:xfrm>
            <a:off x="8451491" y="2383806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A1A256-D19C-1205-D913-F28F1A4341B1}"/>
              </a:ext>
            </a:extLst>
          </p:cNvPr>
          <p:cNvSpPr/>
          <p:nvPr/>
        </p:nvSpPr>
        <p:spPr>
          <a:xfrm>
            <a:off x="9040291" y="2378553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6E24AE-676A-085C-FC43-BDF9C8B87D2B}"/>
              </a:ext>
            </a:extLst>
          </p:cNvPr>
          <p:cNvSpPr txBox="1"/>
          <p:nvPr/>
        </p:nvSpPr>
        <p:spPr>
          <a:xfrm>
            <a:off x="9738360" y="3244334"/>
            <a:ext cx="117852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Cost = 21</a:t>
            </a:r>
          </a:p>
        </p:txBody>
      </p:sp>
    </p:spTree>
    <p:extLst>
      <p:ext uri="{BB962C8B-B14F-4D97-AF65-F5344CB8AC3E}">
        <p14:creationId xmlns:p14="http://schemas.microsoft.com/office/powerpoint/2010/main" val="1867488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E2F3-1B69-7F23-BAB6-8FE3E294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A*-Search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DA54E-DE55-4AD0-63E7-4D722B8FEA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Most widely known form of best-first search.</a:t>
                </a:r>
              </a:p>
              <a:p>
                <a:r>
                  <a:rPr lang="en-GB" dirty="0"/>
                  <a:t>It evaluates nodes by combining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the cost to reach the node,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the cost to get from the node to the goal: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Since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gives the path cost from the start node to node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the estimated cost of the cheapest path from the node to the goal: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𝑒𝑠𝑡𝑖𝑚𝑎𝑡𝑒𝑑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𝑐h𝑒𝑎𝑝𝑒𝑠𝑡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𝑠𝑜𝑙𝑢𝑡𝑖𝑜𝑛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𝑡h𝑟𝑜𝑢𝑔h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DA54E-DE55-4AD0-63E7-4D722B8FE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EF925-D218-C675-3BAD-831E34B57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F856C-3032-3466-E04B-5F5C025F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47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4D68-22F5-225B-192A-49F939A0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4872-C854-30E1-1C74-2EA9C0D6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A*-Search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49FE4-5DF5-2F03-92E6-3E7CF4A1D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776D4-FE24-8DA7-43D7-7E379077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14</a:t>
            </a:fld>
            <a:endParaRPr lang="en-GB"/>
          </a:p>
        </p:txBody>
      </p: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5C3C5846-19A8-A926-F80B-483BCEE07D6E}"/>
              </a:ext>
            </a:extLst>
          </p:cNvPr>
          <p:cNvGraphicFramePr>
            <a:graphicFrameLocks/>
          </p:cNvGraphicFramePr>
          <p:nvPr/>
        </p:nvGraphicFramePr>
        <p:xfrm>
          <a:off x="2562534" y="2372837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EA5556C4-BB2F-0909-71D0-904D98D7E4FA}"/>
              </a:ext>
            </a:extLst>
          </p:cNvPr>
          <p:cNvSpPr/>
          <p:nvPr/>
        </p:nvSpPr>
        <p:spPr>
          <a:xfrm>
            <a:off x="2562534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C2C19A-D4F3-8129-677B-10A814592359}"/>
              </a:ext>
            </a:extLst>
          </p:cNvPr>
          <p:cNvSpPr/>
          <p:nvPr/>
        </p:nvSpPr>
        <p:spPr>
          <a:xfrm>
            <a:off x="9040555" y="237585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2F22A9-9DFC-F72F-B39D-19F12E6142FD}"/>
              </a:ext>
            </a:extLst>
          </p:cNvPr>
          <p:cNvSpPr/>
          <p:nvPr/>
        </p:nvSpPr>
        <p:spPr>
          <a:xfrm>
            <a:off x="3155001" y="459787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16+</a:t>
            </a:r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B22027-E404-3BC3-32AB-6B455C5E26F9}"/>
              </a:ext>
            </a:extLst>
          </p:cNvPr>
          <p:cNvSpPr/>
          <p:nvPr/>
        </p:nvSpPr>
        <p:spPr>
          <a:xfrm>
            <a:off x="3753056" y="459787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15+</a:t>
            </a:r>
            <a:r>
              <a:rPr lang="en-US" sz="1400" dirty="0">
                <a:solidFill>
                  <a:srgbClr val="FF0000"/>
                </a:solidFill>
              </a:rPr>
              <a:t>2</a:t>
            </a:r>
            <a:endParaRPr lang="en-US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44676A-0D9D-6457-0EC8-0398DB0E568A}"/>
              </a:ext>
            </a:extLst>
          </p:cNvPr>
          <p:cNvSpPr/>
          <p:nvPr/>
        </p:nvSpPr>
        <p:spPr>
          <a:xfrm>
            <a:off x="4337204" y="459787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14+</a:t>
            </a:r>
            <a:r>
              <a:rPr lang="en-US" sz="1400" dirty="0">
                <a:solidFill>
                  <a:srgbClr val="FF0000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06F8C4-EA62-F260-D7C9-1897996382C9}"/>
              </a:ext>
            </a:extLst>
          </p:cNvPr>
          <p:cNvSpPr/>
          <p:nvPr/>
        </p:nvSpPr>
        <p:spPr>
          <a:xfrm>
            <a:off x="4332440" y="422703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13+</a:t>
            </a:r>
            <a:r>
              <a:rPr lang="en-US" sz="1400" dirty="0">
                <a:solidFill>
                  <a:srgbClr val="FF0000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7EDFC1-85C3-A79A-D9CE-9F4E1CCE3178}"/>
              </a:ext>
            </a:extLst>
          </p:cNvPr>
          <p:cNvSpPr/>
          <p:nvPr/>
        </p:nvSpPr>
        <p:spPr>
          <a:xfrm>
            <a:off x="4327676" y="385619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12+</a:t>
            </a:r>
            <a:r>
              <a:rPr lang="en-US" sz="1400" dirty="0">
                <a:solidFill>
                  <a:srgbClr val="FF0000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06CE30-20F1-48CD-AFAD-FCBF37DE6780}"/>
              </a:ext>
            </a:extLst>
          </p:cNvPr>
          <p:cNvSpPr/>
          <p:nvPr/>
        </p:nvSpPr>
        <p:spPr>
          <a:xfrm>
            <a:off x="4322912" y="348535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11+</a:t>
            </a:r>
            <a:r>
              <a:rPr lang="en-US" sz="1400" dirty="0">
                <a:solidFill>
                  <a:srgbClr val="FF0000"/>
                </a:solidFill>
              </a:rPr>
              <a:t>6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B69BCC-EB11-7CAB-2CBF-AE07A51A24AA}"/>
              </a:ext>
            </a:extLst>
          </p:cNvPr>
          <p:cNvSpPr/>
          <p:nvPr/>
        </p:nvSpPr>
        <p:spPr>
          <a:xfrm>
            <a:off x="4318148" y="311451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10+</a:t>
            </a:r>
            <a:r>
              <a:rPr lang="en-US" sz="1400" dirty="0">
                <a:solidFill>
                  <a:srgbClr val="FF0000"/>
                </a:solidFill>
              </a:rPr>
              <a:t>7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26965E-5D9C-41CC-293E-CE63568A24ED}"/>
              </a:ext>
            </a:extLst>
          </p:cNvPr>
          <p:cNvSpPr/>
          <p:nvPr/>
        </p:nvSpPr>
        <p:spPr>
          <a:xfrm>
            <a:off x="4911439" y="311451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9+</a:t>
            </a:r>
            <a:r>
              <a:rPr lang="en-US" sz="1400" dirty="0">
                <a:solidFill>
                  <a:srgbClr val="FF0000"/>
                </a:solidFill>
              </a:rPr>
              <a:t>8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6EE06D-F856-4243-7A5E-7B3EBB9A24D3}"/>
              </a:ext>
            </a:extLst>
          </p:cNvPr>
          <p:cNvSpPr/>
          <p:nvPr/>
        </p:nvSpPr>
        <p:spPr>
          <a:xfrm>
            <a:off x="5500350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8+</a:t>
            </a:r>
            <a:r>
              <a:rPr lang="en-US" sz="1400" dirty="0">
                <a:solidFill>
                  <a:srgbClr val="FF0000"/>
                </a:solidFill>
              </a:rPr>
              <a:t>9</a:t>
            </a:r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B13E7F-5386-26AD-DA2E-DBE6E4B01EBC}"/>
              </a:ext>
            </a:extLst>
          </p:cNvPr>
          <p:cNvSpPr/>
          <p:nvPr/>
        </p:nvSpPr>
        <p:spPr>
          <a:xfrm>
            <a:off x="6098021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7+</a:t>
            </a:r>
            <a:r>
              <a:rPr lang="en-US" sz="1400" dirty="0">
                <a:solidFill>
                  <a:srgbClr val="FF0000"/>
                </a:solidFill>
              </a:rPr>
              <a:t>10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1509F3-00E9-E1FB-E5CF-567310CF63FC}"/>
              </a:ext>
            </a:extLst>
          </p:cNvPr>
          <p:cNvSpPr/>
          <p:nvPr/>
        </p:nvSpPr>
        <p:spPr>
          <a:xfrm>
            <a:off x="6695692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6+</a:t>
            </a:r>
            <a:r>
              <a:rPr lang="en-US" sz="1400" dirty="0">
                <a:solidFill>
                  <a:srgbClr val="FF0000"/>
                </a:solidFill>
              </a:rPr>
              <a:t>11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8B378-D9D2-F8E0-8B2F-A9CEE87F95D5}"/>
              </a:ext>
            </a:extLst>
          </p:cNvPr>
          <p:cNvSpPr/>
          <p:nvPr/>
        </p:nvSpPr>
        <p:spPr>
          <a:xfrm>
            <a:off x="7284219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5+</a:t>
            </a:r>
            <a:r>
              <a:rPr lang="en-US" sz="1400" dirty="0">
                <a:solidFill>
                  <a:srgbClr val="FF0000"/>
                </a:solidFill>
              </a:rPr>
              <a:t>12</a:t>
            </a:r>
            <a:endParaRPr 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E93ACF-F2E0-CC82-C054-3116245BE013}"/>
              </a:ext>
            </a:extLst>
          </p:cNvPr>
          <p:cNvSpPr/>
          <p:nvPr/>
        </p:nvSpPr>
        <p:spPr>
          <a:xfrm>
            <a:off x="7867931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4+</a:t>
            </a:r>
            <a:r>
              <a:rPr lang="en-US" sz="1400" dirty="0">
                <a:solidFill>
                  <a:srgbClr val="FF0000"/>
                </a:solidFill>
              </a:rPr>
              <a:t>13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0E6767-EE77-9B63-63B9-533B199911AB}"/>
              </a:ext>
            </a:extLst>
          </p:cNvPr>
          <p:cNvSpPr/>
          <p:nvPr/>
        </p:nvSpPr>
        <p:spPr>
          <a:xfrm>
            <a:off x="7867931" y="348494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5+</a:t>
            </a:r>
            <a:r>
              <a:rPr lang="en-US" sz="1400" dirty="0">
                <a:solidFill>
                  <a:srgbClr val="FF0000"/>
                </a:solidFill>
              </a:rPr>
              <a:t>14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594AD2-5366-911E-91E0-F652145E30C3}"/>
              </a:ext>
            </a:extLst>
          </p:cNvPr>
          <p:cNvSpPr/>
          <p:nvPr/>
        </p:nvSpPr>
        <p:spPr>
          <a:xfrm>
            <a:off x="3753055" y="385578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13+</a:t>
            </a:r>
            <a:r>
              <a:rPr lang="en-US" sz="1400" dirty="0">
                <a:solidFill>
                  <a:srgbClr val="FF0000"/>
                </a:solidFill>
              </a:rPr>
              <a:t>6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C47B7-58D8-97C6-567D-4B5A6C5B8EB8}"/>
              </a:ext>
            </a:extLst>
          </p:cNvPr>
          <p:cNvSpPr/>
          <p:nvPr/>
        </p:nvSpPr>
        <p:spPr>
          <a:xfrm>
            <a:off x="3154318" y="385578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14+</a:t>
            </a:r>
            <a:r>
              <a:rPr lang="en-US" sz="1400" dirty="0">
                <a:solidFill>
                  <a:srgbClr val="FF0000"/>
                </a:solidFill>
              </a:rPr>
              <a:t>7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2B407A-E9DF-897D-4ABC-12A43F0D72A6}"/>
              </a:ext>
            </a:extLst>
          </p:cNvPr>
          <p:cNvSpPr/>
          <p:nvPr/>
        </p:nvSpPr>
        <p:spPr>
          <a:xfrm>
            <a:off x="3142728" y="348494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13+</a:t>
            </a:r>
            <a:r>
              <a:rPr lang="en-US" sz="1400" dirty="0">
                <a:solidFill>
                  <a:srgbClr val="FF0000"/>
                </a:solidFill>
              </a:rPr>
              <a:t>8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6F9BFC-BAA7-9F07-61DC-2E7729622326}"/>
              </a:ext>
            </a:extLst>
          </p:cNvPr>
          <p:cNvSpPr/>
          <p:nvPr/>
        </p:nvSpPr>
        <p:spPr>
          <a:xfrm>
            <a:off x="3151872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12+</a:t>
            </a:r>
            <a:r>
              <a:rPr lang="en-US" sz="1400" dirty="0">
                <a:solidFill>
                  <a:srgbClr val="FF0000"/>
                </a:solidFill>
              </a:rPr>
              <a:t>9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57AAB5-7A6E-BF2E-2A0D-5EE713923D0C}"/>
              </a:ext>
            </a:extLst>
          </p:cNvPr>
          <p:cNvSpPr/>
          <p:nvPr/>
        </p:nvSpPr>
        <p:spPr>
          <a:xfrm>
            <a:off x="3155001" y="2742855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11+</a:t>
            </a:r>
            <a:r>
              <a:rPr lang="en-US" sz="1100" dirty="0">
                <a:solidFill>
                  <a:srgbClr val="FF0000"/>
                </a:solidFill>
              </a:rPr>
              <a:t>10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4D4A7C-FB58-0E75-8F48-ABA785C83339}"/>
              </a:ext>
            </a:extLst>
          </p:cNvPr>
          <p:cNvSpPr/>
          <p:nvPr/>
        </p:nvSpPr>
        <p:spPr>
          <a:xfrm>
            <a:off x="3141767" y="237160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10+</a:t>
            </a:r>
            <a:r>
              <a:rPr lang="en-US" sz="1100" dirty="0">
                <a:solidFill>
                  <a:srgbClr val="FF0000"/>
                </a:solidFill>
              </a:rPr>
              <a:t>11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EB82A9-0252-EAA4-AE7A-2F39BB7B7970}"/>
              </a:ext>
            </a:extLst>
          </p:cNvPr>
          <p:cNvSpPr/>
          <p:nvPr/>
        </p:nvSpPr>
        <p:spPr>
          <a:xfrm>
            <a:off x="3725530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9+</a:t>
            </a:r>
            <a:r>
              <a:rPr lang="en-US" sz="1400" dirty="0">
                <a:solidFill>
                  <a:srgbClr val="FF0000"/>
                </a:solidFill>
              </a:rPr>
              <a:t>12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6D7DF1-767F-4A0B-DBC1-26AB5EDE1935}"/>
              </a:ext>
            </a:extLst>
          </p:cNvPr>
          <p:cNvSpPr/>
          <p:nvPr/>
        </p:nvSpPr>
        <p:spPr>
          <a:xfrm>
            <a:off x="4330273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8+</a:t>
            </a:r>
            <a:r>
              <a:rPr lang="en-US" sz="1400" dirty="0">
                <a:solidFill>
                  <a:srgbClr val="FF0000"/>
                </a:solidFill>
              </a:rPr>
              <a:t>13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D718E1-880C-441D-8DBC-B21BAB567573}"/>
              </a:ext>
            </a:extLst>
          </p:cNvPr>
          <p:cNvSpPr/>
          <p:nvPr/>
        </p:nvSpPr>
        <p:spPr>
          <a:xfrm>
            <a:off x="4916587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7+</a:t>
            </a:r>
            <a:r>
              <a:rPr lang="en-US" sz="1400" dirty="0">
                <a:solidFill>
                  <a:srgbClr val="FF0000"/>
                </a:solidFill>
              </a:rPr>
              <a:t>14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9DB952-F4FA-500F-0D80-7C9A1848CA95}"/>
              </a:ext>
            </a:extLst>
          </p:cNvPr>
          <p:cNvSpPr/>
          <p:nvPr/>
        </p:nvSpPr>
        <p:spPr>
          <a:xfrm>
            <a:off x="5507089" y="237949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6+</a:t>
            </a:r>
            <a:r>
              <a:rPr lang="en-US" sz="1400" dirty="0">
                <a:solidFill>
                  <a:srgbClr val="FF0000"/>
                </a:solidFill>
              </a:rPr>
              <a:t>15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7EAF36-97B0-C877-EBD2-B455E020A0A6}"/>
              </a:ext>
            </a:extLst>
          </p:cNvPr>
          <p:cNvSpPr/>
          <p:nvPr/>
        </p:nvSpPr>
        <p:spPr>
          <a:xfrm>
            <a:off x="6093450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5+</a:t>
            </a:r>
            <a:r>
              <a:rPr lang="en-US" sz="1400" dirty="0">
                <a:solidFill>
                  <a:srgbClr val="FF0000"/>
                </a:solidFill>
              </a:rPr>
              <a:t>16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70E90A-C6C4-DBE6-CA29-780921232878}"/>
              </a:ext>
            </a:extLst>
          </p:cNvPr>
          <p:cNvSpPr/>
          <p:nvPr/>
        </p:nvSpPr>
        <p:spPr>
          <a:xfrm>
            <a:off x="6695691" y="237949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4+</a:t>
            </a:r>
            <a:r>
              <a:rPr lang="en-US" sz="1400" dirty="0">
                <a:solidFill>
                  <a:srgbClr val="FF0000"/>
                </a:solidFill>
              </a:rPr>
              <a:t>17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E5D806-969D-2FB6-FCBE-ABC8016031A1}"/>
              </a:ext>
            </a:extLst>
          </p:cNvPr>
          <p:cNvSpPr/>
          <p:nvPr/>
        </p:nvSpPr>
        <p:spPr>
          <a:xfrm>
            <a:off x="7297932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3+</a:t>
            </a:r>
            <a:r>
              <a:rPr lang="en-US" sz="1400" dirty="0">
                <a:solidFill>
                  <a:srgbClr val="FF0000"/>
                </a:solidFill>
              </a:rPr>
              <a:t>18</a:t>
            </a:r>
            <a:endParaRPr lang="en-US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FF9F23-871F-B4C3-B086-F82AE571F3BA}"/>
              </a:ext>
            </a:extLst>
          </p:cNvPr>
          <p:cNvSpPr/>
          <p:nvPr/>
        </p:nvSpPr>
        <p:spPr>
          <a:xfrm>
            <a:off x="7849403" y="2367145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2+</a:t>
            </a:r>
            <a:r>
              <a:rPr lang="en-US" sz="1400" dirty="0">
                <a:solidFill>
                  <a:srgbClr val="FF0000"/>
                </a:solidFill>
              </a:rPr>
              <a:t>19</a:t>
            </a:r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C4B794-1D2E-05A1-AF4C-A5B3C099A0C5}"/>
              </a:ext>
            </a:extLst>
          </p:cNvPr>
          <p:cNvSpPr/>
          <p:nvPr/>
        </p:nvSpPr>
        <p:spPr>
          <a:xfrm>
            <a:off x="8444978" y="2367145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1+</a:t>
            </a:r>
            <a:r>
              <a:rPr lang="en-US" sz="1400" dirty="0">
                <a:solidFill>
                  <a:srgbClr val="FF0000"/>
                </a:solidFill>
              </a:rPr>
              <a:t>20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9712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6" grpId="0" animBg="1"/>
      <p:bldP spid="3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963E-C189-5427-E287-7C02C287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1571"/>
          </a:xfrm>
        </p:spPr>
        <p:txBody>
          <a:bodyPr>
            <a:normAutofit fontScale="90000"/>
          </a:bodyPr>
          <a:lstStyle/>
          <a:p>
            <a:r>
              <a:rPr lang="en-US" dirty="0"/>
              <a:t>Greedy Best First Search/ A* 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99FAB-D599-7B14-E0CE-B80DC1E5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5257800" cy="508882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GreedyBestFirstSearch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(problem):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node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create_node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problem.initial_state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parent =null, action = null,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frontier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PriorityQueue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ordered by h(n)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frontier.insert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node,f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explored := empty set</a:t>
            </a:r>
          </a:p>
          <a:p>
            <a:pPr marL="0" indent="0">
              <a:buNone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while frontier is not empty: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node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frontier.pop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if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problem.is_goal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return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solution_path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(node)</a:t>
            </a:r>
          </a:p>
          <a:p>
            <a:pPr marL="0" indent="0">
              <a:buNone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explored.add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249D2-311F-F6B0-FE1D-CE4DCD6C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247B5-888E-BA4D-956F-A5532D82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15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70D72C-0216-1392-0CB5-DCE4C95CF729}"/>
              </a:ext>
            </a:extLst>
          </p:cNvPr>
          <p:cNvSpPr txBox="1">
            <a:spLocks/>
          </p:cNvSpPr>
          <p:nvPr/>
        </p:nvSpPr>
        <p:spPr>
          <a:xfrm>
            <a:off x="6096000" y="1088135"/>
            <a:ext cx="5599176" cy="50888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for each action in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problem.actions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problem.result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node.state,action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problem.step_cost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action,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child_node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create_node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parent=node, action = action,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node.path_cost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if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in explored and not in frontier: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f_value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:= f(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frontier.insert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child_node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f_value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 failure</a:t>
            </a:r>
          </a:p>
        </p:txBody>
      </p:sp>
    </p:spTree>
    <p:extLst>
      <p:ext uri="{BB962C8B-B14F-4D97-AF65-F5344CB8AC3E}">
        <p14:creationId xmlns:p14="http://schemas.microsoft.com/office/powerpoint/2010/main" val="1919848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A1379-4B2D-6B2C-D909-6CF459BD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Thank You.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411C-93DD-796A-8ED6-89E8C118D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03/08/2025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D8F06-0E10-1555-46A7-A8CAF922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132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3177</TotalTime>
  <Words>959</Words>
  <Application>Microsoft Office PowerPoint</Application>
  <PresentationFormat>Widescreen</PresentationFormat>
  <Paragraphs>381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Verdana</vt:lpstr>
      <vt:lpstr>Office Theme</vt:lpstr>
      <vt:lpstr>Informed Search</vt:lpstr>
      <vt:lpstr>Informed Search</vt:lpstr>
      <vt:lpstr>Best-First Search</vt:lpstr>
      <vt:lpstr>Heuristic Function</vt:lpstr>
      <vt:lpstr>Greedy Best-First Search</vt:lpstr>
      <vt:lpstr>Greedy Best First Search</vt:lpstr>
      <vt:lpstr>Greedy Best First Search</vt:lpstr>
      <vt:lpstr>Greedy Best First Search</vt:lpstr>
      <vt:lpstr>Greedy Best First Search</vt:lpstr>
      <vt:lpstr>Greedy Best First Search</vt:lpstr>
      <vt:lpstr>Greedy Best First Search</vt:lpstr>
      <vt:lpstr>Greedy Best First Search</vt:lpstr>
      <vt:lpstr>A*-Search</vt:lpstr>
      <vt:lpstr>A*-Search</vt:lpstr>
      <vt:lpstr>Greedy Best First Search/ A* Search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Mehrab Hossain Opi</dc:creator>
  <cp:lastModifiedBy>Md Mehrab Hossain Opi</cp:lastModifiedBy>
  <cp:revision>31</cp:revision>
  <dcterms:created xsi:type="dcterms:W3CDTF">2025-07-29T06:51:35Z</dcterms:created>
  <dcterms:modified xsi:type="dcterms:W3CDTF">2025-08-03T04:26:22Z</dcterms:modified>
</cp:coreProperties>
</file>